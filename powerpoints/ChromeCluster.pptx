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117"/>
    <a:srgbClr val="161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746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63CC-6953-E21F-0F6C-131169B9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6F328-CD29-4A9D-E809-15A9E6CFA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25711-5FEF-3F2E-7E94-638D62E3C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738A-A547-FB98-7481-E62D0657A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87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00" y="-274320"/>
            <a:ext cx="2926080" cy="2926080"/>
          </a:xfrm>
          <a:prstGeom prst="ellipse">
            <a:avLst/>
          </a:prstGeom>
          <a:solidFill>
            <a:srgbClr val="1118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INOVATECH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ChromeCluster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Chromebooks em Workers de Docker Swarm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Ubuntu Server 24.04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324612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60604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Docker Swarm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32461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2062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MrChromebox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324612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6072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~100 Chromebooks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91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Inovatech  ·  2024  ·  Guia Técnico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RESUMO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ChromeCluster?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hardware para construir infraestrutura real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Chromebooks universitários ociosos com potencial computacional desperdiçado.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800600" y="155448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Solução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933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Ubuntu Server + Docker Swarm, transformando cada Chromebook em um worker.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50215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 ~100 nós para hospedar serviços, LLMs e agentes de IA de forma distribuída.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3776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Resultado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0215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baixo custo, escalável e gerenciada via Docker Swarm.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2. MATERIAIS E REQUISITOS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Requisitos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80160" y="1618488"/>
            <a:ext cx="27432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24.04.4 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1109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dos workers. Imagem oficial disponível via .torrent no site da Canonical.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180136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0F25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949440" y="18013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Sistema Operacional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280160" y="2697480"/>
            <a:ext cx="27432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417320" y="26791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MrChromebox (Custom Core Boot)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9900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UEFI que substitui o boot padrão do Chromebook, habilitando instalação de qualquer SO.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2880360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0F25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949440" y="2880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Firmware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2920" y="371246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280160" y="3776472"/>
            <a:ext cx="27432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17320" y="37581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+ Docker Swarm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069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containers e orquestrador nativo. Gerencia serviços distribuídos entre os workers.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9440" y="3959352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0F25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949440" y="39593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Orquestração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850" b="1" kern="0" spc="300" dirty="0">
                <a:solidFill>
                  <a:srgbClr val="00B4D8"/>
                </a:solidFill>
              </a:rPr>
              <a:t>3. </a:t>
            </a:r>
            <a:r>
              <a:rPr lang="en-US" sz="850" b="1" kern="0" spc="300" dirty="0">
                <a:solidFill>
                  <a:srgbClr val="00B4D8"/>
                </a:solidFill>
              </a:rPr>
              <a:t>PREPARAÇÃO DO HARDWARE  › 3.0 </a:t>
            </a:r>
            <a:r>
              <a:rPr lang="pt-BR" sz="850" b="1" kern="0" spc="300" dirty="0">
                <a:solidFill>
                  <a:srgbClr val="00B4D8"/>
                </a:solidFill>
              </a:rPr>
              <a:t>PREPARAÇÃO DO PENDRIVE</a:t>
            </a:r>
            <a:endParaRPr lang="pt-BR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  <a:latin typeface="Calibri" pitchFamily="34" charset="0"/>
              </a:rPr>
              <a:t>Criando o Pendrive Bootável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0" y="1350000"/>
            <a:ext cx="50292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794760" y="1400000"/>
            <a:ext cx="48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b="1" kern="0" spc="100" dirty="0">
                <a:solidFill>
                  <a:srgbClr val="00B4D8"/>
                </a:solidFill>
              </a:rPr>
              <a:t>Passos — executar em outro computador</a:t>
            </a:r>
            <a:endParaRPr lang="pt-BR" sz="900" dirty="0"/>
          </a:p>
        </p:txBody>
      </p:sp>
      <p:sp>
        <p:nvSpPr>
          <p:cNvPr id="7" name="Text 5"/>
          <p:cNvSpPr/>
          <p:nvPr/>
        </p:nvSpPr>
        <p:spPr>
          <a:xfrm>
            <a:off x="3794760" y="1650000"/>
            <a:ext cx="4800000" cy="2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>1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Baixe a ISO do Ubuntu Server 24.04.4 LTS em ubuntu.com/download/server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>2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Instale o </a:t>
            </a:r>
            <a:r>
              <a:rPr lang="pt-BR" sz="1050" b="1" dirty="0">
                <a:solidFill>
                  <a:srgbClr val="FFFFFF"/>
                </a:solidFill>
                <a:latin typeface="Calibri" pitchFamily="34" charset="0"/>
              </a:rPr>
              <a:t>Rufus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 (Windows) ou </a:t>
            </a:r>
            <a:r>
              <a:rPr lang="pt-BR" sz="1050" b="1" dirty="0">
                <a:solidFill>
                  <a:srgbClr val="FFFFFF"/>
                </a:solidFill>
                <a:latin typeface="Calibri" pitchFamily="34" charset="0"/>
              </a:rPr>
              <a:t>Balena Etcher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 (Linux/Mac)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>3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Insira o pendrive (mín. 4 GB) e selecione a ISO baixada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>4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Configure o modo </a:t>
            </a:r>
            <a:r>
              <a:rPr lang="pt-BR" sz="1050" b="1" dirty="0">
                <a:solidFill>
                  <a:srgbClr val="FFFFFF"/>
                </a:solidFill>
                <a:latin typeface="Calibri" pitchFamily="34" charset="0"/>
              </a:rPr>
              <a:t>GPT + UEFI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 e grave a ISO no pendrive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>5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Aguarde a conclusão — pendrive pronto para uso</a:t>
            </a:r>
            <a:endParaRPr lang="pt-BR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4660000"/>
            <a:ext cx="5029200" cy="36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4680000"/>
            <a:ext cx="480000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dirty="0">
                <a:solidFill>
                  <a:srgbClr val="E3B341"/>
                </a:solidFill>
                <a:latin typeface="Calibri" pitchFamily="34" charset="0"/>
              </a:rPr>
              <a:t>⚠️  Conclua este passo ANTES de iniciar o Chromebook no Modo de Recuperação.</a:t>
            </a:r>
            <a:endParaRPr lang="pt-BR" sz="1050" dirty="0"/>
          </a:p>
        </p:txBody>
      </p:sp>
      <p:sp>
        <p:nvSpPr>
          <p:cNvPr id="10" name="Shape 10"/>
          <p:cNvSpPr/>
          <p:nvPr/>
        </p:nvSpPr>
        <p:spPr>
          <a:xfrm>
            <a:off x="457200" y="1350000"/>
            <a:ext cx="29260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11"/>
          <p:cNvSpPr/>
          <p:nvPr/>
        </p:nvSpPr>
        <p:spPr>
          <a:xfrm>
            <a:off x="546480" y="1420000"/>
            <a:ext cx="275000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00B4D8"/>
                </a:solidFill>
              </a:rPr>
              <a:t>Você vai precisar</a:t>
            </a:r>
            <a:endParaRPr lang="pt-BR" sz="900" dirty="0"/>
          </a:p>
          <a:p>
            <a:pPr marL="0" indent="0" algn="ctr">
              <a:buNone/>
            </a:pPr>
            <a:endParaRPr lang="pt-BR" sz="500" dirty="0"/>
          </a:p>
          <a:p>
            <a:pPr marL="0" indent="0" algn="ctr">
              <a:buNone/>
            </a:pPr>
            <a:r>
              <a:rPr lang="pt-BR" sz="2400" dirty="0">
                <a:solidFill>
                  <a:srgbClr val="FFFFFF"/>
                </a:solidFill>
              </a:rPr>
              <a:t>💾</a:t>
            </a:r>
            <a:endParaRPr lang="pt-BR" sz="2400" dirty="0"/>
          </a:p>
          <a:p>
            <a:pPr marL="0" indent="0" algn="ctr">
              <a:buNone/>
            </a:pPr>
            <a:r>
              <a:rPr lang="pt-BR" sz="950" b="1" dirty="0">
                <a:solidFill>
                  <a:srgbClr val="FFFFFF"/>
                </a:solidFill>
                <a:latin typeface="Calibri" pitchFamily="34" charset="0"/>
              </a:rPr>
              <a:t>Pendrive ≥ 4 GB</a:t>
            </a:r>
          </a:p>
          <a:p>
            <a:pPr marL="0" indent="0" algn="ctr">
              <a:buNone/>
            </a:pPr>
            <a:endParaRPr lang="pt-BR" sz="950" dirty="0"/>
          </a:p>
          <a:p>
            <a:pPr marL="0" indent="0" algn="ctr">
              <a:buNone/>
            </a:pPr>
            <a:endParaRPr lang="pt-BR" sz="500" dirty="0"/>
          </a:p>
          <a:p>
            <a:pPr marL="0" indent="0" algn="ctr">
              <a:buNone/>
            </a:pPr>
            <a:r>
              <a:rPr lang="pt-BR" sz="2400" dirty="0">
                <a:solidFill>
                  <a:srgbClr val="FFFFFF"/>
                </a:solidFill>
              </a:rPr>
              <a:t>💻</a:t>
            </a:r>
            <a:endParaRPr lang="pt-BR" sz="2400" dirty="0"/>
          </a:p>
          <a:p>
            <a:pPr marL="0" indent="0" algn="ctr">
              <a:buNone/>
            </a:pPr>
            <a:r>
              <a:rPr lang="pt-BR" sz="950" b="1" dirty="0">
                <a:solidFill>
                  <a:srgbClr val="FFFFFF"/>
                </a:solidFill>
                <a:latin typeface="Calibri" pitchFamily="34" charset="0"/>
              </a:rPr>
              <a:t>Computador de apoio</a:t>
            </a:r>
            <a:endParaRPr lang="pt-BR" sz="950" dirty="0"/>
          </a:p>
          <a:p>
            <a:pPr marL="0" indent="0" algn="ctr">
              <a:buNone/>
            </a:pPr>
            <a:r>
              <a:rPr lang="pt-BR" sz="850" dirty="0">
                <a:solidFill>
                  <a:srgbClr val="8B949E"/>
                </a:solidFill>
                <a:latin typeface="Calibri" pitchFamily="34" charset="0"/>
              </a:rPr>
              <a:t>(Windows, Linux ou Mac)</a:t>
            </a:r>
          </a:p>
          <a:p>
            <a:pPr marL="0" indent="0" algn="ctr">
              <a:buNone/>
            </a:pPr>
            <a:endParaRPr lang="pt-BR" sz="850" dirty="0"/>
          </a:p>
          <a:p>
            <a:pPr marL="0" indent="0" algn="ctr">
              <a:buNone/>
            </a:pPr>
            <a:endParaRPr lang="pt-BR" sz="500" dirty="0"/>
          </a:p>
          <a:p>
            <a:pPr marL="0" indent="0" algn="ctr">
              <a:buNone/>
            </a:pPr>
            <a:r>
              <a:rPr lang="pt-BR" sz="2400" dirty="0">
                <a:solidFill>
                  <a:srgbClr val="FFFFFF"/>
                </a:solidFill>
              </a:rPr>
              <a:t>📀</a:t>
            </a:r>
            <a:endParaRPr lang="pt-BR" sz="2400" dirty="0"/>
          </a:p>
          <a:p>
            <a:pPr marL="0" indent="0" algn="ctr">
              <a:buNone/>
            </a:pPr>
            <a:r>
              <a:rPr lang="pt-BR" sz="950" b="1" dirty="0">
                <a:solidFill>
                  <a:srgbClr val="FFFFFF"/>
                </a:solidFill>
                <a:latin typeface="Calibri" pitchFamily="34" charset="0"/>
              </a:rPr>
              <a:t>ISO Ubuntu 24.04.4</a:t>
            </a:r>
            <a:endParaRPr lang="pt-BR" sz="950" dirty="0"/>
          </a:p>
        </p:txBody>
      </p:sp>
      <p:sp>
        <p:nvSpPr>
          <p:cNvPr id="12" name="Text 8"/>
          <p:cNvSpPr/>
          <p:nvPr/>
        </p:nvSpPr>
        <p:spPr>
          <a:xfrm>
            <a:off x="5760720" y="4680000"/>
            <a:ext cx="292608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50" b="1" dirty="0">
                <a:solidFill>
                  <a:srgbClr val="00B4D8"/>
                </a:solidFill>
              </a:rPr>
              <a:t>Próximo passo →</a:t>
            </a:r>
            <a:endParaRPr lang="pt-BR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3. PREPARAÇÃO DO HARDWARE  ›  3.1 LIBERANDO A TRAVA DE ESCRITA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Liberando o Write-Protect Screw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975104"/>
            <a:ext cx="54864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notebook e desconecte os </a:t>
            </a:r>
            <a:r>
              <a:rPr lang="en-US" sz="12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cabos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placa-mãe (pode deixar o do monitor).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779776"/>
            <a:ext cx="54864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23134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Desparafuse a placa-mãe com cuidado.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584448"/>
            <a:ext cx="54864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o parafuso prata de write-protect </a:t>
            </a:r>
            <a:r>
              <a:rPr lang="en-US" sz="12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2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inferior da placa (ver foto).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2277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o parafuso e remonte o aparelho.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146304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Foto 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placa-mãe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(write-protect screw)</a:t>
            </a:r>
            <a:endParaRPr lang="en-US" sz="100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E5431AE0-CF0C-8222-CC84-5C56F772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915" y="2349549"/>
            <a:ext cx="3738650" cy="210112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DBFC7B4-F4A0-2C08-BACE-EC4712BBF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4" b="21497"/>
          <a:stretch>
            <a:fillRect/>
          </a:stretch>
        </p:blipFill>
        <p:spPr bwMode="auto">
          <a:xfrm rot="16200000">
            <a:off x="6350038" y="148965"/>
            <a:ext cx="1857728" cy="325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3. PREPARAÇÃO DO HARDWARE  ›  3.2 RESETANDO O MDM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Resetando o MDM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B4D8"/>
                </a:solidFill>
              </a:rPr>
              <a:t>Credenciais de acesso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363701"/>
              </p:ext>
            </p:extLst>
          </p:nvPr>
        </p:nvGraphicFramePr>
        <p:xfrm>
          <a:off x="457200" y="1737360"/>
          <a:ext cx="5029200" cy="777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9D1D9"/>
                          </a:solidFill>
                        </a:rPr>
                        <a:t>i9chromecluster@gmail.com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B949E"/>
                          </a:solidFill>
                        </a:rPr>
                        <a:t>[</a:t>
                      </a:r>
                      <a:r>
                        <a:rPr lang="en-US" sz="1050" i="1" dirty="0" err="1">
                          <a:solidFill>
                            <a:srgbClr val="8B949E"/>
                          </a:solidFill>
                        </a:rPr>
                        <a:t>Consultar</a:t>
                      </a:r>
                      <a:r>
                        <a:rPr lang="en-US" sz="1050" i="1" dirty="0">
                          <a:solidFill>
                            <a:srgbClr val="8B949E"/>
                          </a:solidFill>
                        </a:rPr>
                        <a:t> com o professor]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B4D8"/>
                </a:solidFill>
              </a:rPr>
              <a:t>Passos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9443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1.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ao Wi-Fi.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4015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2.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401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Inicie o dispositivo normalmente e faça a configuração padrão logando com a conta acima.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8587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3.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Acesse: Configurações → Avançado → Redefinir Configurações → Powerwash.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3159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4.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43159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Powerwash acabar, siga os próximos passos.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1444752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0350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</a:rPr>
              <a:t>⚠️  Atenção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1920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MDM (Mobile Device Management) bloqueia alterações administrativas. Sem resetá-lo, não é possível instalar firmware personalizado nem mudar o SO.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Powerwash remove todas as contas e dados do Chromebook.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4. INSTALAÇÃO DO UBUNTU SERVER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do Ubuntu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etapas de instalação em sequência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Recuperação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Pressione Ctrl + Refresh + Power para entrar no modo de recuperação do Chrome 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36392" y="283464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55848" y="146304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355848" y="1463040"/>
            <a:ext cx="265176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493008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93008" y="2029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Core Boot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93008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o firmware MrChromebox via shell script para substituir o BIOS padrão por UEFI.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99048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54496" y="146304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254496" y="1463040"/>
            <a:ext cx="265176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91656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91656" y="2029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via USB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91656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pelo USB com a imagem do Ubuntu Server 24.04.4 LTS e siga o instalador.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4. INSTALAÇÃO  ›  4.0 ENTRANDO NO MODO DE RECUPERAÇÃO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Entrando no Modo de Recuperação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</a:rPr>
              <a:t>Atalho de teclado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</a:t>
            </a:r>
            <a:r>
              <a:rPr lang="en-US" sz="1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↺</a:t>
            </a:r>
            <a:r>
              <a:rPr lang="en-US" sz="1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0292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 Chromebook exibirá uma tela de recuperação. Isso é esperado — não é um erro.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Próximo passo →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dispositivo em Modo de Recuperação, execute o script MrChromebox para instalar o firmware UEFI.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2926080" cy="32004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760720" y="146304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Foto do teclado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(Ctrl + Refresh + Power)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4. INSTALAÇÃO  ›  4.1 CUSTOM CORE BOOT  /  4.3 UBUNTU SERVER VIA USB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do Firmware e Ubuntu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4.2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Instalando o Custom Core Boot (MrChromebox)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657600" cy="20116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Preencher 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Preencher: passos para instalação do firmware via shell script do MrChromebox.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Ex.: curl -LO mrchromebox.tech/firmware-util.sh &amp;&amp; sudo bash firmware-util.sh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4.3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Instalando o Ubuntu Server via USB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3657600" cy="20116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Preencher 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Preencher: passos para boot pelo USB e instalação do Ubuntu Server 24.04.4 LTS.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Inclui: preparar USB com Rufus/Balena, selecionar boot device, seguir instalador.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2429C-23AC-A78D-28C8-60102477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58AB06-77D5-DA5A-18DE-95129EC1859D}"/>
              </a:ext>
            </a:extLst>
          </p:cNvPr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PRÓXIMAS SEÇÕES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2AD6C0-5F31-3683-955E-8B13208D8C5C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em Desenvolvimento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5C6871-5BD0-84F3-DFDE-376D129BEA7E}"/>
              </a:ext>
            </a:extLst>
          </p:cNvPr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C0FEDB-ECB0-42E1-1647-41354C2D05EC}"/>
              </a:ext>
            </a:extLst>
          </p:cNvPr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322A42-C6DD-F3D6-36D6-366307C69C79}"/>
              </a:ext>
            </a:extLst>
          </p:cNvPr>
          <p:cNvSpPr/>
          <p:nvPr/>
        </p:nvSpPr>
        <p:spPr>
          <a:xfrm>
            <a:off x="64008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5.  Configuração do Sistema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B121D7-36AF-E919-9A4C-80F6FAFC63B2}"/>
              </a:ext>
            </a:extLst>
          </p:cNvPr>
          <p:cNvSpPr/>
          <p:nvPr/>
        </p:nvSpPr>
        <p:spPr>
          <a:xfrm>
            <a:off x="640080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Configurações iniciais do Ubuntu, ajustes de rede, criação de usuários e instalação do Docker.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D17737C-1C71-F119-0275-6785E573FC6F}"/>
              </a:ext>
            </a:extLst>
          </p:cNvPr>
          <p:cNvSpPr/>
          <p:nvPr/>
        </p:nvSpPr>
        <p:spPr>
          <a:xfrm>
            <a:off x="4800600" y="146304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A8180C-449A-08BF-0AD7-B2F4856C3D51}"/>
              </a:ext>
            </a:extLst>
          </p:cNvPr>
          <p:cNvSpPr/>
          <p:nvPr/>
        </p:nvSpPr>
        <p:spPr>
          <a:xfrm>
            <a:off x="498348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6.  Validação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DA7069-2811-7868-F165-4F24A53FC63D}"/>
              </a:ext>
            </a:extLst>
          </p:cNvPr>
          <p:cNvSpPr/>
          <p:nvPr/>
        </p:nvSpPr>
        <p:spPr>
          <a:xfrm>
            <a:off x="4983480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Comandos para verificar se o node está ativo no cluster. Ex.: docker node ls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F6F5164-4E68-8350-BB05-06F0ACB5E900}"/>
              </a:ext>
            </a:extLst>
          </p:cNvPr>
          <p:cNvSpPr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B2329D8-52B0-E869-CF91-6B10DE9E215F}"/>
              </a:ext>
            </a:extLst>
          </p:cNvPr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7.  Conclusão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323D48-EA4B-F5BB-A6A2-F7358F022F9A}"/>
              </a:ext>
            </a:extLst>
          </p:cNvPr>
          <p:cNvSpPr/>
          <p:nvPr/>
        </p:nvSpPr>
        <p:spPr>
          <a:xfrm>
            <a:off x="640080" y="3611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O que foi alcançado, dificuldades encontradas, aprendizados e próximos passos.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DCBEC2C-8BEA-A06F-28B8-190C4BFBE239}"/>
              </a:ext>
            </a:extLst>
          </p:cNvPr>
          <p:cNvSpPr/>
          <p:nvPr/>
        </p:nvSpPr>
        <p:spPr>
          <a:xfrm>
            <a:off x="4800600" y="310896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D6BC4BA-7186-7CFC-5B2B-78786238AB2F}"/>
              </a:ext>
            </a:extLst>
          </p:cNvPr>
          <p:cNvSpPr/>
          <p:nvPr/>
        </p:nvSpPr>
        <p:spPr>
          <a:xfrm>
            <a:off x="498348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—  Referências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D4FDB7-460F-6088-8CDE-4DA7E4E301C2}"/>
              </a:ext>
            </a:extLst>
          </p:cNvPr>
          <p:cNvSpPr/>
          <p:nvPr/>
        </p:nvSpPr>
        <p:spPr>
          <a:xfrm>
            <a:off x="4983480" y="3611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Links do MrChromebox, documentação do Docker Swarm, Ubuntu Server, etc.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05037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1828800"/>
            <a:ext cx="4114800" cy="41148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</a:rPr>
              <a:t>PROJETO INOVATECH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ChromeCluster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distribuída de baixo custo,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com hardware reutilizado.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github.com/inovatech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3657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0604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mrchromebox.tech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3891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docs.docker.com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878</Words>
  <Application>Microsoft Office PowerPoint</Application>
  <PresentationFormat>Apresentação na tela (16:9)</PresentationFormat>
  <Paragraphs>161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Inovatech ChromeCluster</dc:title>
  <dc:subject>PptxGenJS Presentation</dc:subject>
  <dc:creator>PptxGenJS</dc:creator>
  <cp:lastModifiedBy>André Codato</cp:lastModifiedBy>
  <cp:revision>3</cp:revision>
  <dcterms:created xsi:type="dcterms:W3CDTF">2026-03-26T04:02:59Z</dcterms:created>
  <dcterms:modified xsi:type="dcterms:W3CDTF">2026-03-26T04:46:15Z</dcterms:modified>
</cp:coreProperties>
</file>